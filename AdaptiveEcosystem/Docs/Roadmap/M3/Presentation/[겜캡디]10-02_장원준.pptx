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5F5A6A-9549-4847-B8EA-6A310ABF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46BA2C3-9A5F-413A-8A05-C2E940C69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A3069E2-C6D0-47B8-A786-477CBF95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F524DD-495D-41B8-BDDF-F729B14A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E221E9-BC32-41A7-BEAB-8595B3488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45A918C-4C9F-4120-A9DC-D04CF232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F3A9C63-8B1C-42D2-AC00-F201DEFB6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D8C6113-FFC4-4925-940C-28AA859CCE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45FFE39-E189-45A4-8965-92E06AF3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E7B64CE-99B1-4393-9F13-A927A053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E586EA04-FF59-49A1-8635-BD6F6629209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04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01 — 구현 결과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6C88E4D-E22C-4A1C-A9AD-B27630966402}"/>
              </a:ext>
            </a:extLst>
          </p:cNvPr>
          <p:cNvSpPr>
            <a:spLocks noGrp="1"/>
          </p:cNvSpPr>
          <p:nvPr/>
        </p:nvSpPr>
        <p:spPr>
          <a:xfrm>
            <a:off x="10382250" y="381000"/>
            <a:ext cx="43243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ECOSYSTEM DESIGN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053201E-91C6-4019-897B-559352F3CF19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1252F7E-4C10-4E53-B797-60BF7D14605E}"/>
              </a:ext>
            </a:extLst>
          </p:cNvPr>
          <p:cNvSpPr>
            <a:spLocks noGrp="1"/>
          </p:cNvSpPr>
          <p:nvPr/>
        </p:nvSpPr>
        <p:spPr>
          <a:xfrm>
            <a:off x="533400" y="1047750"/>
            <a:ext cx="13430250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70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MassEntity</a:t>
            </a:r>
            <a:r>
              <a:rPr sz="70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기반</a:t>
            </a:r>
            <a:endParaRPr sz="70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7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70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 </a:t>
            </a:r>
            <a:r>
              <a:rPr sz="70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동적</a:t>
            </a:r>
            <a:r>
              <a:rPr sz="70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생태계</a:t>
            </a:r>
            <a:endParaRPr sz="70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AE3ED7A-88E6-4E31-BB9B-32D84498081B}"/>
              </a:ext>
            </a:extLst>
          </p:cNvPr>
          <p:cNvSpPr>
            <a:spLocks noGrp="1"/>
          </p:cNvSpPr>
          <p:nvPr/>
        </p:nvSpPr>
        <p:spPr>
          <a:xfrm>
            <a:off x="533400" y="3381375"/>
            <a:ext cx="12382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Server</a:t>
            </a:r>
            <a:r>
              <a:rPr lang="en-US" sz="200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권위</a:t>
            </a:r>
            <a:r>
              <a:rPr sz="200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시뮬레이션</a:t>
            </a:r>
            <a:endParaRPr sz="200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A48A8A-0DDB-4C76-9F68-ED0BF577C570}"/>
              </a:ext>
            </a:extLst>
          </p:cNvPr>
          <p:cNvSpPr>
            <a:spLocks noGrp="1"/>
          </p:cNvSpPr>
          <p:nvPr/>
        </p:nvSpPr>
        <p:spPr>
          <a:xfrm>
            <a:off x="533400" y="4362450"/>
            <a:ext cx="4333875" cy="1952625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D999953-BFE2-4EC9-8AF3-039E160D6C14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WORLD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47265C5-8EAE-4516-BFA8-B0BD2B7AB16A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38576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지역·낮밤</a:t>
            </a:r>
            <a:r>
              <a:rPr sz="26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625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sz="26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92F5568-9605-42E7-B8A1-DAF9AD962CB8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공간과 시간 입력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3A5F085-2539-4694-80FF-0BE093461416}"/>
              </a:ext>
            </a:extLst>
          </p:cNvPr>
          <p:cNvSpPr>
            <a:spLocks noGrp="1"/>
          </p:cNvSpPr>
          <p:nvPr/>
        </p:nvSpPr>
        <p:spPr>
          <a:xfrm>
            <a:off x="5029200" y="5086350"/>
            <a:ext cx="685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74CDB1-28D3-4982-8324-338B4836B9F4}"/>
              </a:ext>
            </a:extLst>
          </p:cNvPr>
          <p:cNvSpPr>
            <a:spLocks noGrp="1"/>
          </p:cNvSpPr>
          <p:nvPr/>
        </p:nvSpPr>
        <p:spPr>
          <a:xfrm>
            <a:off x="5743575" y="4362450"/>
            <a:ext cx="4333875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E004393-01FB-42A7-A1BA-880241C34BE1}"/>
              </a:ext>
            </a:extLst>
          </p:cNvPr>
          <p:cNvSpPr>
            <a:spLocks noGrp="1"/>
          </p:cNvSpPr>
          <p:nvPr/>
        </p:nvSpPr>
        <p:spPr>
          <a:xfrm>
            <a:off x="5991225" y="4572000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ECOLOGY + MASS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BCE0428-6733-4EC4-8AD5-328648B47D09}"/>
              </a:ext>
            </a:extLst>
          </p:cNvPr>
          <p:cNvSpPr>
            <a:spLocks noGrp="1"/>
          </p:cNvSpPr>
          <p:nvPr/>
        </p:nvSpPr>
        <p:spPr>
          <a:xfrm>
            <a:off x="5991225" y="5010150"/>
            <a:ext cx="38576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생성·소비·이주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99072B6-75FA-4C5C-B770-C0A89500B0DB}"/>
              </a:ext>
            </a:extLst>
          </p:cNvPr>
          <p:cNvSpPr>
            <a:spLocks noGrp="1"/>
          </p:cNvSpPr>
          <p:nvPr/>
        </p:nvSpPr>
        <p:spPr>
          <a:xfrm>
            <a:off x="5991225" y="5695950"/>
            <a:ext cx="3810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논리 개체와 자원 장부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F5DCE8F-6C64-4346-9212-AD073B661F02}"/>
              </a:ext>
            </a:extLst>
          </p:cNvPr>
          <p:cNvSpPr>
            <a:spLocks noGrp="1"/>
          </p:cNvSpPr>
          <p:nvPr/>
        </p:nvSpPr>
        <p:spPr>
          <a:xfrm>
            <a:off x="10191750" y="5086350"/>
            <a:ext cx="6858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4B4E24-7D60-40F0-AED2-AAB64FB861C8}"/>
              </a:ext>
            </a:extLst>
          </p:cNvPr>
          <p:cNvSpPr>
            <a:spLocks noGrp="1"/>
          </p:cNvSpPr>
          <p:nvPr/>
        </p:nvSpPr>
        <p:spPr>
          <a:xfrm>
            <a:off x="10944225" y="4362450"/>
            <a:ext cx="3762375" cy="1952625"/>
          </a:xfrm>
          <a:prstGeom prst="rect">
            <a:avLst/>
          </a:prstGeom>
          <a:solidFill>
            <a:srgbClr val="080808"/>
          </a:solidFill>
          <a:ln w="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0D121DA-6ADA-4F44-B6FE-F50D6C4B956D}"/>
              </a:ext>
            </a:extLst>
          </p:cNvPr>
          <p:cNvSpPr>
            <a:spLocks noGrp="1"/>
          </p:cNvSpPr>
          <p:nvPr/>
        </p:nvSpPr>
        <p:spPr>
          <a:xfrm>
            <a:off x="11191875" y="4572000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OBSERVATION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3932A41-6EF0-4080-9631-0D66384C03F1}"/>
              </a:ext>
            </a:extLst>
          </p:cNvPr>
          <p:cNvSpPr>
            <a:spLocks noGrp="1"/>
          </p:cNvSpPr>
          <p:nvPr/>
        </p:nvSpPr>
        <p:spPr>
          <a:xfrm>
            <a:off x="11191875" y="50101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Representation</a:t>
            </a:r>
            <a:endParaRPr sz="2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0D65192-01DE-48FB-A250-470DE0253DEC}"/>
              </a:ext>
            </a:extLst>
          </p:cNvPr>
          <p:cNvSpPr>
            <a:spLocks noGrp="1"/>
          </p:cNvSpPr>
          <p:nvPr/>
        </p:nvSpPr>
        <p:spPr>
          <a:xfrm>
            <a:off x="11191875" y="56959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개체 ID와 지역 변화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E0BEDD-DA63-4562-A559-FFD734393FD7}"/>
              </a:ext>
            </a:extLst>
          </p:cNvPr>
          <p:cNvSpPr>
            <a:spLocks noGrp="1"/>
          </p:cNvSpPr>
          <p:nvPr/>
        </p:nvSpPr>
        <p:spPr>
          <a:xfrm>
            <a:off x="533400" y="7258050"/>
            <a:ext cx="14173200" cy="628650"/>
          </a:xfrm>
          <a:prstGeom prst="rect">
            <a:avLst/>
          </a:prstGeom>
          <a:solidFill>
            <a:srgbClr val="080808"/>
          </a:solidFill>
          <a:ln w="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A4BEC3A-1E0B-4400-8812-A9232030A658}"/>
              </a:ext>
            </a:extLst>
          </p:cNvPr>
          <p:cNvSpPr>
            <a:spLocks noGrp="1"/>
          </p:cNvSpPr>
          <p:nvPr/>
        </p:nvSpPr>
        <p:spPr>
          <a:xfrm>
            <a:off x="762000" y="7381875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식량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고갈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Mass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개체가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인접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지역으로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이동한다</a:t>
            </a:r>
            <a:endParaRPr sz="20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47F7E6F-E019-4717-A0D0-F278809C46F6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8CF8936E-A47D-452F-A214-F4C2755041BF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01 / </a:t>
            </a:r>
            <a:r>
              <a:rPr lang="en-US" sz="105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05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56295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">
            <a:extLst>
              <a:ext uri="{FF2B5EF4-FFF2-40B4-BE49-F238E27FC236}">
                <a16:creationId xmlns:a16="http://schemas.microsoft.com/office/drawing/2014/main" id="{5477A19C-E38B-402C-9DE3-6F1DD93EFBFE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02 —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범위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AE75D7C-07D3-439C-A132-3E7E24AE5824}"/>
              </a:ext>
            </a:extLst>
          </p:cNvPr>
          <p:cNvSpPr>
            <a:spLocks noGrp="1"/>
          </p:cNvSpPr>
          <p:nvPr/>
        </p:nvSpPr>
        <p:spPr>
          <a:xfrm>
            <a:off x="10477500" y="381000"/>
            <a:ext cx="4229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A299A42-7191-41E0-A908-67A4F2C11C08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DF4B4F-F03A-478D-AC92-38613DBED2CB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 관찰 시나리오의 세 단계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1A5124-5BA6-49F0-BF91-A13064FC8B33}"/>
              </a:ext>
            </a:extLst>
          </p:cNvPr>
          <p:cNvSpPr>
            <a:spLocks noGrp="1"/>
          </p:cNvSpPr>
          <p:nvPr/>
        </p:nvSpPr>
        <p:spPr>
          <a:xfrm>
            <a:off x="533400" y="6838950"/>
            <a:ext cx="14173200" cy="628650"/>
          </a:xfrm>
          <a:prstGeom prst="rect">
            <a:avLst/>
          </a:prstGeom>
          <a:solidFill>
            <a:srgbClr val="080808"/>
          </a:solidFill>
          <a:ln w="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8F684A7-8275-44EC-B00B-0C66F7F386BB}"/>
              </a:ext>
            </a:extLst>
          </p:cNvPr>
          <p:cNvSpPr>
            <a:spLocks noGrp="1"/>
          </p:cNvSpPr>
          <p:nvPr/>
        </p:nvSpPr>
        <p:spPr>
          <a:xfrm>
            <a:off x="762000" y="6962775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지역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자원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변화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ID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이주를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하나의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흐름으로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연결</a:t>
            </a:r>
            <a:endParaRPr sz="20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0A70CE2-4BB1-4F20-8E64-464B67862C24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34A5219-DDAA-42AA-AB28-27F16F257430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02 / </a:t>
            </a:r>
            <a:r>
              <a:rPr lang="en-US" sz="105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05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C822626-E698-4FD9-97C3-A7A56A922264}"/>
              </a:ext>
            </a:extLst>
          </p:cNvPr>
          <p:cNvSpPr>
            <a:spLocks noGrp="1"/>
          </p:cNvSpPr>
          <p:nvPr/>
        </p:nvSpPr>
        <p:spPr>
          <a:xfrm>
            <a:off x="533400" y="1857375"/>
            <a:ext cx="2286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단계</a:t>
            </a:r>
            <a:endParaRPr sz="15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AC8D9D4-CF30-4C36-BA4B-52B382461F44}"/>
              </a:ext>
            </a:extLst>
          </p:cNvPr>
          <p:cNvSpPr>
            <a:spLocks noGrp="1"/>
          </p:cNvSpPr>
          <p:nvPr/>
        </p:nvSpPr>
        <p:spPr>
          <a:xfrm>
            <a:off x="4391025" y="1857375"/>
            <a:ext cx="62484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개발한</a:t>
            </a: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동작</a:t>
            </a:r>
            <a:endParaRPr sz="15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9F8F84D-99DA-4DBE-AB37-2C78F49BEC72}"/>
              </a:ext>
            </a:extLst>
          </p:cNvPr>
          <p:cNvSpPr>
            <a:spLocks noGrp="1"/>
          </p:cNvSpPr>
          <p:nvPr/>
        </p:nvSpPr>
        <p:spPr>
          <a:xfrm>
            <a:off x="11334750" y="1857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관찰할</a:t>
            </a: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sz="15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1D54EE62-B639-4726-AF6E-C671CD1DCBF2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63523CD-1F31-4927-AC63-2360714A46A0}"/>
              </a:ext>
            </a:extLst>
          </p:cNvPr>
          <p:cNvSpPr>
            <a:spLocks noGrp="1"/>
          </p:cNvSpPr>
          <p:nvPr/>
        </p:nvSpPr>
        <p:spPr>
          <a:xfrm>
            <a:off x="533400" y="2390775"/>
            <a:ext cx="36671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M3.1  지역·생성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8F84278-0BF8-4073-987B-D882E2802176}"/>
              </a:ext>
            </a:extLst>
          </p:cNvPr>
          <p:cNvSpPr>
            <a:spLocks noGrp="1"/>
          </p:cNvSpPr>
          <p:nvPr/>
        </p:nvSpPr>
        <p:spPr>
          <a:xfrm>
            <a:off x="4391025" y="2390775"/>
            <a:ext cx="103155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권위 Day/Night 시계와 지역별 초기/정기 Spawn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5470E6D-876C-495A-B3E4-5528B491DE74}"/>
              </a:ext>
            </a:extLst>
          </p:cNvPr>
          <p:cNvSpPr>
            <a:spLocks noGrp="1"/>
          </p:cNvSpPr>
          <p:nvPr/>
        </p:nvSpPr>
        <p:spPr>
          <a:xfrm>
            <a:off x="11334750" y="23812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8개 초기 생성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3D4A4F0F-1C6A-47F8-809F-67282349EC10}"/>
              </a:ext>
            </a:extLst>
          </p:cNvPr>
          <p:cNvSpPr>
            <a:spLocks noGrp="1"/>
          </p:cNvSpPr>
          <p:nvPr/>
        </p:nvSpPr>
        <p:spPr>
          <a:xfrm>
            <a:off x="533400" y="3238500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8CEE0CA-0291-4D87-841C-3E4DD480D1F4}"/>
              </a:ext>
            </a:extLst>
          </p:cNvPr>
          <p:cNvSpPr>
            <a:spLocks noGrp="1"/>
          </p:cNvSpPr>
          <p:nvPr/>
        </p:nvSpPr>
        <p:spPr>
          <a:xfrm>
            <a:off x="533400" y="3419475"/>
            <a:ext cx="36671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M3.2  자원·소비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C9FFDF72-104F-4B6E-95E0-2D7C286C9F83}"/>
              </a:ext>
            </a:extLst>
          </p:cNvPr>
          <p:cNvSpPr>
            <a:spLocks noGrp="1"/>
          </p:cNvSpPr>
          <p:nvPr/>
        </p:nvSpPr>
        <p:spPr>
          <a:xfrm>
            <a:off x="4391025" y="3419475"/>
            <a:ext cx="103155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개체별 소비 예약, 낮밤 Food 손실, Debug 고갈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B290F82-4CF6-4922-A62B-BCC355DBBC50}"/>
              </a:ext>
            </a:extLst>
          </p:cNvPr>
          <p:cNvSpPr>
            <a:spLocks noGrp="1"/>
          </p:cNvSpPr>
          <p:nvPr/>
        </p:nvSpPr>
        <p:spPr>
          <a:xfrm>
            <a:off x="11334750" y="34099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Food 감소 장부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C4F701CF-2AB5-4C2A-9478-4A5CB3C7A6F0}"/>
              </a:ext>
            </a:extLst>
          </p:cNvPr>
          <p:cNvSpPr>
            <a:spLocks noGrp="1"/>
          </p:cNvSpPr>
          <p:nvPr/>
        </p:nvSpPr>
        <p:spPr>
          <a:xfrm>
            <a:off x="533400" y="4267200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8CE6E87E-6AF3-4593-BAE8-080AEBD74AA9}"/>
              </a:ext>
            </a:extLst>
          </p:cNvPr>
          <p:cNvSpPr>
            <a:spLocks noGrp="1"/>
          </p:cNvSpPr>
          <p:nvPr/>
        </p:nvSpPr>
        <p:spPr>
          <a:xfrm>
            <a:off x="533400" y="4448175"/>
            <a:ext cx="36671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M3.3  이동·표시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8F8FAC7-9122-4209-A999-49F87662847C}"/>
              </a:ext>
            </a:extLst>
          </p:cNvPr>
          <p:cNvSpPr>
            <a:spLocks noGrp="1"/>
          </p:cNvSpPr>
          <p:nvPr/>
        </p:nvSpPr>
        <p:spPr>
          <a:xfrm>
            <a:off x="4391025" y="4448175"/>
            <a:ext cx="103155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인접 지역 선택, 실제 이동·도착, 요약 복제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F944E11F-E82C-492C-A011-C6545F34A4D9}"/>
              </a:ext>
            </a:extLst>
          </p:cNvPr>
          <p:cNvSpPr>
            <a:spLocks noGrp="1"/>
          </p:cNvSpPr>
          <p:nvPr/>
        </p:nvSpPr>
        <p:spPr>
          <a:xfrm>
            <a:off x="11334750" y="443865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같은 ID로 도착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5EFF1853-52CF-4013-898B-EC5BE08CF4F5}"/>
              </a:ext>
            </a:extLst>
          </p:cNvPr>
          <p:cNvSpPr>
            <a:spLocks noGrp="1"/>
          </p:cNvSpPr>
          <p:nvPr/>
        </p:nvSpPr>
        <p:spPr>
          <a:xfrm>
            <a:off x="533400" y="5295900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59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8E1B3861-143B-417A-A20F-CEFBB533FA23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03 —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책임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경계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99A0995-7D9D-4804-B58A-03625A6727C1}"/>
              </a:ext>
            </a:extLst>
          </p:cNvPr>
          <p:cNvSpPr>
            <a:spLocks noGrp="1"/>
          </p:cNvSpPr>
          <p:nvPr/>
        </p:nvSpPr>
        <p:spPr>
          <a:xfrm>
            <a:off x="10477500" y="381000"/>
            <a:ext cx="4229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9F5BFEF-20F2-4C29-AD64-58DAEB0EDDF3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2FD2A54-5179-4C70-B626-B3F6F2041327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서버</a:t>
            </a:r>
            <a:r>
              <a:rPr sz="36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6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권위의</a:t>
            </a:r>
            <a:r>
              <a:rPr sz="36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네 </a:t>
            </a:r>
            <a:r>
              <a:rPr sz="36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계층</a:t>
            </a:r>
            <a:endParaRPr sz="36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3FECAF-D96C-4497-AC4E-C2D1C6372CEA}"/>
              </a:ext>
            </a:extLst>
          </p:cNvPr>
          <p:cNvSpPr>
            <a:spLocks noGrp="1"/>
          </p:cNvSpPr>
          <p:nvPr/>
        </p:nvSpPr>
        <p:spPr>
          <a:xfrm>
            <a:off x="533400" y="7258050"/>
            <a:ext cx="14173200" cy="628650"/>
          </a:xfrm>
          <a:prstGeom prst="rect">
            <a:avLst/>
          </a:prstGeom>
          <a:solidFill>
            <a:srgbClr val="080808"/>
          </a:solidFill>
          <a:ln w="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03B3BF0-70B6-4072-BB61-B55A4CAB8A97}"/>
              </a:ext>
            </a:extLst>
          </p:cNvPr>
          <p:cNvSpPr>
            <a:spLocks noGrp="1"/>
          </p:cNvSpPr>
          <p:nvPr/>
        </p:nvSpPr>
        <p:spPr>
          <a:xfrm>
            <a:off x="762000" y="7381875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World는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Ecology는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자원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Mass는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개체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GameState는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요약을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전달</a:t>
            </a:r>
            <a:endParaRPr sz="20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CBD52EB-BBCB-4B6E-98BD-6BAB9BAA550B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</a:t>
            </a:r>
            <a:r>
              <a:rPr lang="en-US"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</a:t>
            </a:r>
            <a:endParaRPr lang="en-US"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EF9BC1F-CE5A-40F7-A832-3185EBAD5AE4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03 / </a:t>
            </a:r>
            <a:r>
              <a:rPr lang="en-US"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AAF0B1-3674-4B00-8439-0564FB8FB012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141732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8015EB8-6619-4AEB-85EF-586DBC2F2B26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2860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WORLD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04BE9E2-495A-4468-887D-79A39E856704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12382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AEcologyRegion · Day/Night Clock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2CEEDA6-0215-455C-8EF2-C42EF863CD8A}"/>
              </a:ext>
            </a:extLst>
          </p:cNvPr>
          <p:cNvSpPr>
            <a:spLocks noGrp="1"/>
          </p:cNvSpPr>
          <p:nvPr/>
        </p:nvSpPr>
        <p:spPr>
          <a:xfrm>
            <a:off x="533400" y="30480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↓  </a:t>
            </a:r>
            <a:r>
              <a:rPr b="0" dirty="0" err="1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지역</a:t>
            </a:r>
            <a:r>
              <a:rPr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0" dirty="0" err="1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Bounds·인접</a:t>
            </a:r>
            <a:r>
              <a:rPr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0" dirty="0" err="1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관계·시각</a:t>
            </a:r>
            <a:r>
              <a:rPr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snapshot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42980F-9A83-49FC-AB8C-537C91289BAB}"/>
              </a:ext>
            </a:extLst>
          </p:cNvPr>
          <p:cNvSpPr>
            <a:spLocks noGrp="1"/>
          </p:cNvSpPr>
          <p:nvPr/>
        </p:nvSpPr>
        <p:spPr>
          <a:xfrm>
            <a:off x="533400" y="3638550"/>
            <a:ext cx="6667500" cy="2000250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90732E5-1759-4FAC-92CB-760B0C045259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ECOLOGY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061F6F2-1D7B-4DB2-97A1-755E440D3A07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4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Resource</a:t>
            </a:r>
            <a:r>
              <a:rPr sz="24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· Spawn </a:t>
            </a:r>
            <a:r>
              <a:rPr sz="24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예약</a:t>
            </a:r>
            <a:r>
              <a:rPr sz="24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24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상한</a:t>
            </a:r>
            <a:endParaRPr sz="24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178EBB7-8CB9-40FA-B41E-56EACDC74C04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공유 자원과 개체군 집계의 권위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F6A343-C03C-47E8-BEEF-786FA572125E}"/>
              </a:ext>
            </a:extLst>
          </p:cNvPr>
          <p:cNvSpPr>
            <a:spLocks noGrp="1"/>
          </p:cNvSpPr>
          <p:nvPr/>
        </p:nvSpPr>
        <p:spPr>
          <a:xfrm>
            <a:off x="8039100" y="3638550"/>
            <a:ext cx="6667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D8F8022-4BDC-4843-B149-CCD2E16BFDBA}"/>
              </a:ext>
            </a:extLst>
          </p:cNvPr>
          <p:cNvSpPr>
            <a:spLocks noGrp="1"/>
          </p:cNvSpPr>
          <p:nvPr/>
        </p:nvSpPr>
        <p:spPr>
          <a:xfrm>
            <a:off x="8286750" y="3829050"/>
            <a:ext cx="6191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B5601D6-2F7F-499C-81E3-657B5D122AF6}"/>
              </a:ext>
            </a:extLst>
          </p:cNvPr>
          <p:cNvSpPr>
            <a:spLocks noGrp="1"/>
          </p:cNvSpPr>
          <p:nvPr/>
        </p:nvSpPr>
        <p:spPr>
          <a:xfrm>
            <a:off x="8286750" y="42862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Entity · 소비 예약 · Travel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B969BED-B349-4F0B-B8C4-C933C497A61C}"/>
              </a:ext>
            </a:extLst>
          </p:cNvPr>
          <p:cNvSpPr>
            <a:spLocks noGrp="1"/>
          </p:cNvSpPr>
          <p:nvPr/>
        </p:nvSpPr>
        <p:spPr>
          <a:xfrm>
            <a:off x="8286750" y="501967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개체별 상태와 Transform의 원본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FAEBF48E-085A-43C8-B800-E8A05DCE3174}"/>
              </a:ext>
            </a:extLst>
          </p:cNvPr>
          <p:cNvSpPr>
            <a:spLocks noGrp="1"/>
          </p:cNvSpPr>
          <p:nvPr/>
        </p:nvSpPr>
        <p:spPr>
          <a:xfrm>
            <a:off x="533400" y="6048375"/>
            <a:ext cx="1409700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→  완료된 지역 요약과 관련 Box만 Client로 전달</a:t>
            </a:r>
          </a:p>
        </p:txBody>
      </p:sp>
    </p:spTree>
    <p:extLst>
      <p:ext uri="{BB962C8B-B14F-4D97-AF65-F5344CB8AC3E}">
        <p14:creationId xmlns:p14="http://schemas.microsoft.com/office/powerpoint/2010/main" val="116243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">
            <a:extLst>
              <a:ext uri="{FF2B5EF4-FFF2-40B4-BE49-F238E27FC236}">
                <a16:creationId xmlns:a16="http://schemas.microsoft.com/office/drawing/2014/main" id="{56026EDA-75A9-4106-B933-30FC6190D65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04 — M3.1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C9CFA55-24A7-41C4-84BA-57B3FAC4A485}"/>
              </a:ext>
            </a:extLst>
          </p:cNvPr>
          <p:cNvSpPr>
            <a:spLocks noGrp="1"/>
          </p:cNvSpPr>
          <p:nvPr/>
        </p:nvSpPr>
        <p:spPr>
          <a:xfrm>
            <a:off x="10477500" y="381000"/>
            <a:ext cx="4229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D350777-E5E8-4C4B-BAC3-7023F9EFECA1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B2AA412-9893-4C26-B081-7AFEC23EFAA9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6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지역별 개체 생성과 자원 소비량 예시</a:t>
            </a:r>
            <a:endParaRPr sz="36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11DBE50-9910-4AD9-9DDD-C6E66E786E39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047657C-5CF9-4302-B4AA-A4D099EC0D16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04 / </a:t>
            </a:r>
            <a:r>
              <a:rPr lang="en-US"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05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85B1BB6-F6C5-4056-8EE2-72DF50F5F3C4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2070652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낮</a:t>
            </a:r>
            <a:r>
              <a:rPr lang="en-US" altLang="ko-KR"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lang="ko-KR" altLang="en-US"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밤 </a:t>
            </a:r>
            <a:r>
              <a:rPr lang="en-US" altLang="ko-KR"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10</a:t>
            </a:r>
            <a:r>
              <a:rPr lang="ko-KR" altLang="en-US"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초 고정</a:t>
            </a:r>
            <a:endParaRPr sz="195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A4F1B5-BFF9-4B2B-A7F2-649F82DE4877}"/>
              </a:ext>
            </a:extLst>
          </p:cNvPr>
          <p:cNvSpPr>
            <a:spLocks noGrp="1"/>
          </p:cNvSpPr>
          <p:nvPr/>
        </p:nvSpPr>
        <p:spPr>
          <a:xfrm>
            <a:off x="533400" y="2362200"/>
            <a:ext cx="2696817" cy="3780183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7467852-2834-453E-ADF5-79EF47752FE2}"/>
              </a:ext>
            </a:extLst>
          </p:cNvPr>
          <p:cNvSpPr>
            <a:spLocks noGrp="1"/>
          </p:cNvSpPr>
          <p:nvPr/>
        </p:nvSpPr>
        <p:spPr>
          <a:xfrm>
            <a:off x="781050" y="2543175"/>
            <a:ext cx="737154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시간</a:t>
            </a:r>
            <a:endParaRPr sz="1275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DA058F5-5D5C-4B26-9F05-3B1A6A60C2B0}"/>
              </a:ext>
            </a:extLst>
          </p:cNvPr>
          <p:cNvSpPr>
            <a:spLocks noGrp="1"/>
          </p:cNvSpPr>
          <p:nvPr/>
        </p:nvSpPr>
        <p:spPr>
          <a:xfrm>
            <a:off x="1908313" y="2540690"/>
            <a:ext cx="1082537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지역별</a:t>
            </a:r>
            <a:r>
              <a:rPr sz="1275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Alive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5F1204E-472B-480C-99BA-44C397E587E0}"/>
              </a:ext>
            </a:extLst>
          </p:cNvPr>
          <p:cNvSpPr>
            <a:spLocks noGrp="1"/>
          </p:cNvSpPr>
          <p:nvPr/>
        </p:nvSpPr>
        <p:spPr>
          <a:xfrm flipV="1">
            <a:off x="781051" y="2914650"/>
            <a:ext cx="2349775" cy="1905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EE5F74D-BF09-4590-BAF5-9771A0804188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877744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0초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E6986A5-1970-48D9-9778-B2AE63C6FF89}"/>
              </a:ext>
            </a:extLst>
          </p:cNvPr>
          <p:cNvSpPr>
            <a:spLocks noGrp="1"/>
          </p:cNvSpPr>
          <p:nvPr/>
        </p:nvSpPr>
        <p:spPr>
          <a:xfrm>
            <a:off x="2113106" y="3072020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EE276ACE-3CD7-435F-B88F-E98ECABF236F}"/>
              </a:ext>
            </a:extLst>
          </p:cNvPr>
          <p:cNvSpPr>
            <a:spLocks noGrp="1"/>
          </p:cNvSpPr>
          <p:nvPr/>
        </p:nvSpPr>
        <p:spPr>
          <a:xfrm flipV="1">
            <a:off x="781050" y="3552823"/>
            <a:ext cx="2349775" cy="19052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34E2BFA-DB95-4850-A2F8-B24BF12049F9}"/>
              </a:ext>
            </a:extLst>
          </p:cNvPr>
          <p:cNvSpPr>
            <a:spLocks noGrp="1"/>
          </p:cNvSpPr>
          <p:nvPr/>
        </p:nvSpPr>
        <p:spPr>
          <a:xfrm>
            <a:off x="781050" y="3743325"/>
            <a:ext cx="877744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876370C8-0EA7-4BCC-A44E-D39FED127E41}"/>
              </a:ext>
            </a:extLst>
          </p:cNvPr>
          <p:cNvSpPr>
            <a:spLocks noGrp="1"/>
          </p:cNvSpPr>
          <p:nvPr/>
        </p:nvSpPr>
        <p:spPr>
          <a:xfrm>
            <a:off x="2113106" y="3710195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FA78E9CB-9139-454B-84C7-31C7174C1273}"/>
              </a:ext>
            </a:extLst>
          </p:cNvPr>
          <p:cNvSpPr>
            <a:spLocks noGrp="1"/>
          </p:cNvSpPr>
          <p:nvPr/>
        </p:nvSpPr>
        <p:spPr>
          <a:xfrm flipV="1">
            <a:off x="781051" y="4190997"/>
            <a:ext cx="2349774" cy="19052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F7447D3-1D0E-4A13-B1E6-908BBBEDEC99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877744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40초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A98C36A-D62E-4BAD-B271-1743536642E5}"/>
              </a:ext>
            </a:extLst>
          </p:cNvPr>
          <p:cNvSpPr>
            <a:spLocks noGrp="1"/>
          </p:cNvSpPr>
          <p:nvPr/>
        </p:nvSpPr>
        <p:spPr>
          <a:xfrm>
            <a:off x="2113106" y="4348370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325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36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61CE4FA-94EE-46DC-B15E-27472C5F98F1}"/>
              </a:ext>
            </a:extLst>
          </p:cNvPr>
          <p:cNvSpPr>
            <a:spLocks noGrp="1"/>
          </p:cNvSpPr>
          <p:nvPr/>
        </p:nvSpPr>
        <p:spPr>
          <a:xfrm flipV="1">
            <a:off x="781051" y="4847395"/>
            <a:ext cx="2349774" cy="83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8F9F40CD-9B84-4F08-ADC4-AF58DA86E02D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877744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60초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2424B7AF-ED01-4465-A735-A6D8F195CEE4}"/>
              </a:ext>
            </a:extLst>
          </p:cNvPr>
          <p:cNvSpPr>
            <a:spLocks noGrp="1"/>
          </p:cNvSpPr>
          <p:nvPr/>
        </p:nvSpPr>
        <p:spPr>
          <a:xfrm>
            <a:off x="2113106" y="4986545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86E3DCE7-1F48-48F2-8EAD-B842F903FDCA}"/>
              </a:ext>
            </a:extLst>
          </p:cNvPr>
          <p:cNvSpPr>
            <a:spLocks noGrp="1"/>
          </p:cNvSpPr>
          <p:nvPr/>
        </p:nvSpPr>
        <p:spPr>
          <a:xfrm flipV="1">
            <a:off x="781051" y="5485567"/>
            <a:ext cx="2349774" cy="831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E094033-C5A6-401D-BA07-15E8485A4A72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877744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80초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A3314FC7-F563-4CAC-85BF-5DB1F269C8A2}"/>
              </a:ext>
            </a:extLst>
          </p:cNvPr>
          <p:cNvSpPr>
            <a:spLocks noGrp="1"/>
          </p:cNvSpPr>
          <p:nvPr/>
        </p:nvSpPr>
        <p:spPr>
          <a:xfrm>
            <a:off x="2113106" y="5624720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9CCD73A-2740-45B1-8C37-7E9D8166B736}"/>
              </a:ext>
            </a:extLst>
          </p:cNvPr>
          <p:cNvSpPr>
            <a:spLocks noGrp="1"/>
          </p:cNvSpPr>
          <p:nvPr/>
        </p:nvSpPr>
        <p:spPr>
          <a:xfrm>
            <a:off x="3445162" y="2628794"/>
            <a:ext cx="2899951" cy="3162509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6D644C6D-592A-4CA1-9A57-6B691896C603}"/>
              </a:ext>
            </a:extLst>
          </p:cNvPr>
          <p:cNvSpPr>
            <a:spLocks noGrp="1"/>
          </p:cNvSpPr>
          <p:nvPr/>
        </p:nvSpPr>
        <p:spPr>
          <a:xfrm>
            <a:off x="3702336" y="2885969"/>
            <a:ext cx="86822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DAY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0BDC0C3C-9A4A-427E-A4B4-EFA353D85965}"/>
              </a:ext>
            </a:extLst>
          </p:cNvPr>
          <p:cNvSpPr>
            <a:spLocks noGrp="1"/>
          </p:cNvSpPr>
          <p:nvPr/>
        </p:nvSpPr>
        <p:spPr>
          <a:xfrm>
            <a:off x="3702336" y="3295544"/>
            <a:ext cx="235442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+5초에 4개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C154BF78-CB20-4E5D-A740-F003898243EC}"/>
              </a:ext>
            </a:extLst>
          </p:cNvPr>
          <p:cNvSpPr>
            <a:spLocks noGrp="1"/>
          </p:cNvSpPr>
          <p:nvPr/>
        </p:nvSpPr>
        <p:spPr>
          <a:xfrm flipV="1">
            <a:off x="3702337" y="4044085"/>
            <a:ext cx="2417279" cy="22984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FAC2757A-9483-4515-B5B2-2DB94D9B257C}"/>
              </a:ext>
            </a:extLst>
          </p:cNvPr>
          <p:cNvSpPr>
            <a:spLocks noGrp="1"/>
          </p:cNvSpPr>
          <p:nvPr/>
        </p:nvSpPr>
        <p:spPr>
          <a:xfrm>
            <a:off x="3702336" y="4305194"/>
            <a:ext cx="1107587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NIGHT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58833C76-5671-4D5C-B89C-E69724F628F2}"/>
              </a:ext>
            </a:extLst>
          </p:cNvPr>
          <p:cNvSpPr>
            <a:spLocks noGrp="1"/>
          </p:cNvSpPr>
          <p:nvPr/>
        </p:nvSpPr>
        <p:spPr>
          <a:xfrm>
            <a:off x="3702337" y="4724294"/>
            <a:ext cx="2513358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+</a:t>
            </a:r>
            <a:r>
              <a:rPr lang="en-US" sz="2625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lang="ko-KR" altLang="en-US" sz="2625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26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에 6개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F01BF8F-3789-CA05-E799-F434A7F6BA1E}"/>
              </a:ext>
            </a:extLst>
          </p:cNvPr>
          <p:cNvSpPr>
            <a:spLocks noGrp="1"/>
          </p:cNvSpPr>
          <p:nvPr/>
        </p:nvSpPr>
        <p:spPr>
          <a:xfrm>
            <a:off x="6709431" y="2386015"/>
            <a:ext cx="2696817" cy="3780183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6E41B8E1-365F-427D-F1B2-779CC138BF55}"/>
              </a:ext>
            </a:extLst>
          </p:cNvPr>
          <p:cNvSpPr>
            <a:spLocks noGrp="1"/>
          </p:cNvSpPr>
          <p:nvPr/>
        </p:nvSpPr>
        <p:spPr>
          <a:xfrm>
            <a:off x="6957081" y="2566990"/>
            <a:ext cx="72700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조건</a:t>
            </a:r>
            <a:endParaRPr sz="1275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1ECC20A7-63C6-3F81-861C-7282F108594E}"/>
              </a:ext>
            </a:extLst>
          </p:cNvPr>
          <p:cNvSpPr>
            <a:spLocks noGrp="1"/>
          </p:cNvSpPr>
          <p:nvPr/>
        </p:nvSpPr>
        <p:spPr>
          <a:xfrm>
            <a:off x="8597039" y="2564505"/>
            <a:ext cx="569842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값</a:t>
            </a:r>
            <a:endParaRPr sz="1275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1C3128F5-9E83-AFEE-229F-88F43F5C2BED}"/>
              </a:ext>
            </a:extLst>
          </p:cNvPr>
          <p:cNvSpPr>
            <a:spLocks noGrp="1"/>
          </p:cNvSpPr>
          <p:nvPr/>
        </p:nvSpPr>
        <p:spPr>
          <a:xfrm flipV="1">
            <a:off x="6957082" y="2938465"/>
            <a:ext cx="2349775" cy="1905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B6516250-59CA-8F6C-D406-F1580713D3F7}"/>
              </a:ext>
            </a:extLst>
          </p:cNvPr>
          <p:cNvSpPr>
            <a:spLocks noGrp="1"/>
          </p:cNvSpPr>
          <p:nvPr/>
        </p:nvSpPr>
        <p:spPr>
          <a:xfrm>
            <a:off x="6957080" y="3128965"/>
            <a:ext cx="1548849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5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지역 </a:t>
            </a:r>
            <a:r>
              <a:rPr lang="ko-KR" altLang="en-US" sz="195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자원량</a:t>
            </a:r>
            <a:endParaRPr sz="195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8" name="text">
            <a:extLst>
              <a:ext uri="{FF2B5EF4-FFF2-40B4-BE49-F238E27FC236}">
                <a16:creationId xmlns:a16="http://schemas.microsoft.com/office/drawing/2014/main" id="{093220A4-1D4E-596F-C57E-AE76F8F25F37}"/>
              </a:ext>
            </a:extLst>
          </p:cNvPr>
          <p:cNvSpPr>
            <a:spLocks noGrp="1"/>
          </p:cNvSpPr>
          <p:nvPr/>
        </p:nvSpPr>
        <p:spPr>
          <a:xfrm>
            <a:off x="8289137" y="3095835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53FBCF27-AFBA-3DEA-C564-915D19A738ED}"/>
              </a:ext>
            </a:extLst>
          </p:cNvPr>
          <p:cNvSpPr>
            <a:spLocks noGrp="1"/>
          </p:cNvSpPr>
          <p:nvPr/>
        </p:nvSpPr>
        <p:spPr>
          <a:xfrm flipV="1">
            <a:off x="6957081" y="3576638"/>
            <a:ext cx="2349775" cy="19052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">
            <a:extLst>
              <a:ext uri="{FF2B5EF4-FFF2-40B4-BE49-F238E27FC236}">
                <a16:creationId xmlns:a16="http://schemas.microsoft.com/office/drawing/2014/main" id="{A37B9CBE-571D-25C1-4C74-0C009EADA822}"/>
              </a:ext>
            </a:extLst>
          </p:cNvPr>
          <p:cNvSpPr>
            <a:spLocks noGrp="1"/>
          </p:cNvSpPr>
          <p:nvPr/>
        </p:nvSpPr>
        <p:spPr>
          <a:xfrm>
            <a:off x="6957080" y="3767140"/>
            <a:ext cx="133205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5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총 개체</a:t>
            </a:r>
            <a:endParaRPr lang="en-US" altLang="ko-KR" sz="195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text">
            <a:extLst>
              <a:ext uri="{FF2B5EF4-FFF2-40B4-BE49-F238E27FC236}">
                <a16:creationId xmlns:a16="http://schemas.microsoft.com/office/drawing/2014/main" id="{2B7D0BC2-124F-4207-414D-5E042AC8C423}"/>
              </a:ext>
            </a:extLst>
          </p:cNvPr>
          <p:cNvSpPr>
            <a:spLocks noGrp="1"/>
          </p:cNvSpPr>
          <p:nvPr/>
        </p:nvSpPr>
        <p:spPr>
          <a:xfrm>
            <a:off x="8289137" y="3734010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6" name="직선 연결선 55">
            <a:extLst>
              <a:ext uri="{FF2B5EF4-FFF2-40B4-BE49-F238E27FC236}">
                <a16:creationId xmlns:a16="http://schemas.microsoft.com/office/drawing/2014/main" id="{B0E60784-FF02-9021-C9BB-935453060598}"/>
              </a:ext>
            </a:extLst>
          </p:cNvPr>
          <p:cNvSpPr>
            <a:spLocks noGrp="1"/>
          </p:cNvSpPr>
          <p:nvPr/>
        </p:nvSpPr>
        <p:spPr>
          <a:xfrm flipV="1">
            <a:off x="6957082" y="4214812"/>
            <a:ext cx="2349774" cy="19052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">
            <a:extLst>
              <a:ext uri="{FF2B5EF4-FFF2-40B4-BE49-F238E27FC236}">
                <a16:creationId xmlns:a16="http://schemas.microsoft.com/office/drawing/2014/main" id="{EB9676AE-9398-34E8-F4A4-D72F7DADC2ED}"/>
              </a:ext>
            </a:extLst>
          </p:cNvPr>
          <p:cNvSpPr>
            <a:spLocks noGrp="1"/>
          </p:cNvSpPr>
          <p:nvPr/>
        </p:nvSpPr>
        <p:spPr>
          <a:xfrm>
            <a:off x="6957081" y="4405315"/>
            <a:ext cx="1548848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5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개체당 요청</a:t>
            </a:r>
          </a:p>
        </p:txBody>
      </p:sp>
      <p:sp>
        <p:nvSpPr>
          <p:cNvPr id="60" name="text">
            <a:extLst>
              <a:ext uri="{FF2B5EF4-FFF2-40B4-BE49-F238E27FC236}">
                <a16:creationId xmlns:a16="http://schemas.microsoft.com/office/drawing/2014/main" id="{E06D68C3-8D18-23E4-2A84-ADB9ED145A12}"/>
              </a:ext>
            </a:extLst>
          </p:cNvPr>
          <p:cNvSpPr>
            <a:spLocks noGrp="1"/>
          </p:cNvSpPr>
          <p:nvPr/>
        </p:nvSpPr>
        <p:spPr>
          <a:xfrm>
            <a:off x="8289137" y="4372185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2" name="직선 연결선 61">
            <a:extLst>
              <a:ext uri="{FF2B5EF4-FFF2-40B4-BE49-F238E27FC236}">
                <a16:creationId xmlns:a16="http://schemas.microsoft.com/office/drawing/2014/main" id="{5C2FB76D-13B0-F260-F356-502F0E9A44C1}"/>
              </a:ext>
            </a:extLst>
          </p:cNvPr>
          <p:cNvSpPr>
            <a:spLocks noGrp="1"/>
          </p:cNvSpPr>
          <p:nvPr/>
        </p:nvSpPr>
        <p:spPr>
          <a:xfrm flipV="1">
            <a:off x="6957082" y="4871210"/>
            <a:ext cx="2349774" cy="83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">
            <a:extLst>
              <a:ext uri="{FF2B5EF4-FFF2-40B4-BE49-F238E27FC236}">
                <a16:creationId xmlns:a16="http://schemas.microsoft.com/office/drawing/2014/main" id="{BA7455C4-CF22-6574-506A-D85346CDDFB9}"/>
              </a:ext>
            </a:extLst>
          </p:cNvPr>
          <p:cNvSpPr>
            <a:spLocks noGrp="1"/>
          </p:cNvSpPr>
          <p:nvPr/>
        </p:nvSpPr>
        <p:spPr>
          <a:xfrm>
            <a:off x="6957080" y="5043490"/>
            <a:ext cx="1092689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5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총 요청</a:t>
            </a:r>
          </a:p>
        </p:txBody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7F7A2CB4-5F38-6178-934E-81B506E88112}"/>
              </a:ext>
            </a:extLst>
          </p:cNvPr>
          <p:cNvSpPr>
            <a:spLocks noGrp="1"/>
          </p:cNvSpPr>
          <p:nvPr/>
        </p:nvSpPr>
        <p:spPr>
          <a:xfrm>
            <a:off x="8289137" y="5010360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20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8" name="직선 연결선 67">
            <a:extLst>
              <a:ext uri="{FF2B5EF4-FFF2-40B4-BE49-F238E27FC236}">
                <a16:creationId xmlns:a16="http://schemas.microsoft.com/office/drawing/2014/main" id="{F5454D48-3B2D-86BB-6D94-78CDE0A84692}"/>
              </a:ext>
            </a:extLst>
          </p:cNvPr>
          <p:cNvSpPr>
            <a:spLocks noGrp="1"/>
          </p:cNvSpPr>
          <p:nvPr/>
        </p:nvSpPr>
        <p:spPr>
          <a:xfrm flipV="1">
            <a:off x="6957082" y="5509382"/>
            <a:ext cx="2349774" cy="831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F851903C-38D5-E69F-4F2B-3ED4146C0CCE}"/>
              </a:ext>
            </a:extLst>
          </p:cNvPr>
          <p:cNvSpPr>
            <a:spLocks noGrp="1"/>
          </p:cNvSpPr>
          <p:nvPr/>
        </p:nvSpPr>
        <p:spPr>
          <a:xfrm>
            <a:off x="6957081" y="5681665"/>
            <a:ext cx="1639958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5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실제 지급 합</a:t>
            </a:r>
          </a:p>
        </p:txBody>
      </p:sp>
      <p:sp>
        <p:nvSpPr>
          <p:cNvPr id="72" name="text">
            <a:extLst>
              <a:ext uri="{FF2B5EF4-FFF2-40B4-BE49-F238E27FC236}">
                <a16:creationId xmlns:a16="http://schemas.microsoft.com/office/drawing/2014/main" id="{A44D2345-B94F-0E4A-34CD-1E9DF7C2B1ED}"/>
              </a:ext>
            </a:extLst>
          </p:cNvPr>
          <p:cNvSpPr>
            <a:spLocks noGrp="1"/>
          </p:cNvSpPr>
          <p:nvPr/>
        </p:nvSpPr>
        <p:spPr>
          <a:xfrm>
            <a:off x="8289137" y="5648535"/>
            <a:ext cx="877744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23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3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23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BC2BB5B-ACDF-95E9-25BF-2639280E5DD6}"/>
              </a:ext>
            </a:extLst>
          </p:cNvPr>
          <p:cNvSpPr>
            <a:spLocks noGrp="1"/>
          </p:cNvSpPr>
          <p:nvPr/>
        </p:nvSpPr>
        <p:spPr>
          <a:xfrm>
            <a:off x="9694909" y="2588420"/>
            <a:ext cx="3913014" cy="3176589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">
            <a:extLst>
              <a:ext uri="{FF2B5EF4-FFF2-40B4-BE49-F238E27FC236}">
                <a16:creationId xmlns:a16="http://schemas.microsoft.com/office/drawing/2014/main" id="{B8E4AB2C-38BD-CE44-70D5-C1BBEC41DAD7}"/>
              </a:ext>
            </a:extLst>
          </p:cNvPr>
          <p:cNvSpPr>
            <a:spLocks noGrp="1"/>
          </p:cNvSpPr>
          <p:nvPr/>
        </p:nvSpPr>
        <p:spPr>
          <a:xfrm>
            <a:off x="9952083" y="2845595"/>
            <a:ext cx="188376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자원량</a:t>
            </a:r>
            <a:r>
              <a:rPr lang="en-US"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충분할 때</a:t>
            </a:r>
            <a:endParaRPr sz="15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4786ACA9-1BFC-B2A0-059C-7906B72BD6A4}"/>
              </a:ext>
            </a:extLst>
          </p:cNvPr>
          <p:cNvSpPr>
            <a:spLocks noGrp="1"/>
          </p:cNvSpPr>
          <p:nvPr/>
        </p:nvSpPr>
        <p:spPr>
          <a:xfrm>
            <a:off x="9952083" y="3255170"/>
            <a:ext cx="3236998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77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총 </a:t>
            </a:r>
            <a:r>
              <a:rPr lang="ko-KR" altLang="en-US" sz="2775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자원량</a:t>
            </a:r>
            <a:r>
              <a:rPr lang="ko-KR" altLang="en-US" sz="277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차감</a:t>
            </a:r>
            <a:endParaRPr sz="277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0" name="직선 연결선 79">
            <a:extLst>
              <a:ext uri="{FF2B5EF4-FFF2-40B4-BE49-F238E27FC236}">
                <a16:creationId xmlns:a16="http://schemas.microsoft.com/office/drawing/2014/main" id="{51C2CF56-6E50-D1BE-8904-34A459C88F55}"/>
              </a:ext>
            </a:extLst>
          </p:cNvPr>
          <p:cNvSpPr>
            <a:spLocks noGrp="1"/>
          </p:cNvSpPr>
          <p:nvPr/>
        </p:nvSpPr>
        <p:spPr>
          <a:xfrm flipV="1">
            <a:off x="9952084" y="4017170"/>
            <a:ext cx="3143250" cy="9525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">
            <a:extLst>
              <a:ext uri="{FF2B5EF4-FFF2-40B4-BE49-F238E27FC236}">
                <a16:creationId xmlns:a16="http://schemas.microsoft.com/office/drawing/2014/main" id="{53CA5B9D-2652-3819-C4E9-78D753F58FE0}"/>
              </a:ext>
            </a:extLst>
          </p:cNvPr>
          <p:cNvSpPr>
            <a:spLocks noGrp="1"/>
          </p:cNvSpPr>
          <p:nvPr/>
        </p:nvSpPr>
        <p:spPr>
          <a:xfrm>
            <a:off x="9952083" y="4264820"/>
            <a:ext cx="2542657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자원량</a:t>
            </a:r>
            <a:r>
              <a:rPr lang="ko-KR" altLang="en-US" sz="150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충분하지 못할 때</a:t>
            </a:r>
            <a:endParaRPr sz="15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4" name="text">
            <a:extLst>
              <a:ext uri="{FF2B5EF4-FFF2-40B4-BE49-F238E27FC236}">
                <a16:creationId xmlns:a16="http://schemas.microsoft.com/office/drawing/2014/main" id="{11CD9BCD-180D-13CD-4F08-6F7A66B809CB}"/>
              </a:ext>
            </a:extLst>
          </p:cNvPr>
          <p:cNvSpPr>
            <a:spLocks noGrp="1"/>
          </p:cNvSpPr>
          <p:nvPr/>
        </p:nvSpPr>
        <p:spPr>
          <a:xfrm>
            <a:off x="9952084" y="4683920"/>
            <a:ext cx="3361498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6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625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자원량을</a:t>
            </a:r>
            <a:r>
              <a:rPr lang="ko-KR" altLang="en-US" sz="2625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개체마다 나누기</a:t>
            </a:r>
            <a:endParaRPr sz="2625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8" name="text">
            <a:extLst>
              <a:ext uri="{FF2B5EF4-FFF2-40B4-BE49-F238E27FC236}">
                <a16:creationId xmlns:a16="http://schemas.microsoft.com/office/drawing/2014/main" id="{1392F9F7-83F7-7F72-153E-FE57A6A7E0EC}"/>
              </a:ext>
            </a:extLst>
          </p:cNvPr>
          <p:cNvSpPr>
            <a:spLocks noGrp="1"/>
          </p:cNvSpPr>
          <p:nvPr/>
        </p:nvSpPr>
        <p:spPr>
          <a:xfrm>
            <a:off x="6709431" y="1750118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개체별</a:t>
            </a:r>
            <a:r>
              <a:rPr lang="en-US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 소비</a:t>
            </a:r>
            <a:endParaRPr sz="18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8D4D006-5DE4-8893-E411-D6404AA4F7B0}"/>
              </a:ext>
            </a:extLst>
          </p:cNvPr>
          <p:cNvSpPr>
            <a:spLocks noGrp="1"/>
          </p:cNvSpPr>
          <p:nvPr/>
        </p:nvSpPr>
        <p:spPr>
          <a:xfrm>
            <a:off x="533400" y="7258050"/>
            <a:ext cx="14173200" cy="628650"/>
          </a:xfrm>
          <a:prstGeom prst="rect">
            <a:avLst/>
          </a:prstGeom>
          <a:solidFill>
            <a:srgbClr val="080808"/>
          </a:solidFill>
          <a:ln w="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">
            <a:extLst>
              <a:ext uri="{FF2B5EF4-FFF2-40B4-BE49-F238E27FC236}">
                <a16:creationId xmlns:a16="http://schemas.microsoft.com/office/drawing/2014/main" id="{2D3A5CF3-3ED8-4408-64A8-9695204A4163}"/>
              </a:ext>
            </a:extLst>
          </p:cNvPr>
          <p:cNvSpPr>
            <a:spLocks noGrp="1"/>
          </p:cNvSpPr>
          <p:nvPr/>
        </p:nvSpPr>
        <p:spPr>
          <a:xfrm>
            <a:off x="762000" y="7381875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Mass가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요청을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모으고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Ecology가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지역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Food를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한 번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배분한다</a:t>
            </a:r>
            <a:endParaRPr sz="20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123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D0EC521F-0AC3-4C73-8745-C157A193A41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— M3.3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AF6AEAA-0C3C-42B7-A277-0A4CE477F652}"/>
              </a:ext>
            </a:extLst>
          </p:cNvPr>
          <p:cNvSpPr>
            <a:spLocks noGrp="1"/>
          </p:cNvSpPr>
          <p:nvPr/>
        </p:nvSpPr>
        <p:spPr>
          <a:xfrm>
            <a:off x="10477500" y="381000"/>
            <a:ext cx="4229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84018BFA-FFEF-4019-93EE-62844B79FA22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E7CAE9C-FB7E-4A98-BC9E-1C2F478D42A0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36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Migration</a:t>
            </a:r>
            <a:endParaRPr sz="36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36E698B-1CC1-4E2E-B39F-B4313D477C7F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A4B73CA-7DA4-4D47-AA92-B196FE73086D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lang="en-US"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05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A52272-34BC-4228-BEED-584C1BE3770D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43450" cy="4029075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8D4769C-EB46-4543-866C-92F6E09C7840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42100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01  </a:t>
            </a: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출발지</a:t>
            </a:r>
            <a:r>
              <a:rPr sz="15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고갈</a:t>
            </a:r>
            <a:endParaRPr sz="15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D793282-5B8E-4E3F-9FF5-649DFC485FA9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42100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Forest_A</a:t>
            </a: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240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Resource</a:t>
            </a: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= 0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177823D-B499-409B-829E-7F9EF14AF081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4210050" cy="0"/>
          </a:xfrm>
          <a:prstGeom prst="line">
            <a:avLst/>
          </a:prstGeom>
          <a:noFill/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152647A-0220-483C-8327-73933E1E5C59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42100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Food가 있는 명시적 인접 지역 탐색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0516FF-F0E6-4D5D-AC66-3587DEF8A4A4}"/>
              </a:ext>
            </a:extLst>
          </p:cNvPr>
          <p:cNvSpPr>
            <a:spLocks noGrp="1"/>
          </p:cNvSpPr>
          <p:nvPr/>
        </p:nvSpPr>
        <p:spPr>
          <a:xfrm>
            <a:off x="5248275" y="1809750"/>
            <a:ext cx="4743450" cy="4029075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D3095AC-EDE9-4B13-93C3-50CD61E04938}"/>
              </a:ext>
            </a:extLst>
          </p:cNvPr>
          <p:cNvSpPr>
            <a:spLocks noGrp="1"/>
          </p:cNvSpPr>
          <p:nvPr/>
        </p:nvSpPr>
        <p:spPr>
          <a:xfrm>
            <a:off x="5514975" y="2038350"/>
            <a:ext cx="42100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02  Traveling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0E00A75-C996-4CCD-B6D9-053FB72F7130}"/>
              </a:ext>
            </a:extLst>
          </p:cNvPr>
          <p:cNvSpPr>
            <a:spLocks noGrp="1"/>
          </p:cNvSpPr>
          <p:nvPr/>
        </p:nvSpPr>
        <p:spPr>
          <a:xfrm>
            <a:off x="5514975" y="2590800"/>
            <a:ext cx="42100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같은 ID가 B로 이동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54739250-4618-4657-BFAF-838F268303F3}"/>
              </a:ext>
            </a:extLst>
          </p:cNvPr>
          <p:cNvSpPr>
            <a:spLocks noGrp="1"/>
          </p:cNvSpPr>
          <p:nvPr/>
        </p:nvSpPr>
        <p:spPr>
          <a:xfrm>
            <a:off x="5514975" y="3810000"/>
            <a:ext cx="4210050" cy="0"/>
          </a:xfrm>
          <a:prstGeom prst="line">
            <a:avLst/>
          </a:prstGeom>
          <a:noFill/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C058596-7077-4A41-A75D-CE9F26A17052}"/>
              </a:ext>
            </a:extLst>
          </p:cNvPr>
          <p:cNvSpPr>
            <a:spLocks noGrp="1"/>
          </p:cNvSpPr>
          <p:nvPr/>
        </p:nvSpPr>
        <p:spPr>
          <a:xfrm>
            <a:off x="5514975" y="4114800"/>
            <a:ext cx="42100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이동 중에는 A Population 소속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08326C-2CC0-4924-A9F4-762438D815EA}"/>
              </a:ext>
            </a:extLst>
          </p:cNvPr>
          <p:cNvSpPr>
            <a:spLocks noGrp="1"/>
          </p:cNvSpPr>
          <p:nvPr/>
        </p:nvSpPr>
        <p:spPr>
          <a:xfrm>
            <a:off x="9963150" y="1809750"/>
            <a:ext cx="4743450" cy="4029075"/>
          </a:xfrm>
          <a:prstGeom prst="rect">
            <a:avLst/>
          </a:prstGeom>
          <a:solidFill>
            <a:srgbClr val="FFFFFF"/>
          </a:solidFill>
          <a:ln w="9525">
            <a:solidFill>
              <a:srgbClr val="A2A2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776C692-AE65-416A-AD06-D7534AF1506B}"/>
              </a:ext>
            </a:extLst>
          </p:cNvPr>
          <p:cNvSpPr>
            <a:spLocks noGrp="1"/>
          </p:cNvSpPr>
          <p:nvPr/>
        </p:nvSpPr>
        <p:spPr>
          <a:xfrm>
            <a:off x="10229850" y="2038350"/>
            <a:ext cx="42100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03  도착 commit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7C66DC0-6C1B-4194-9E20-9CC8A5EF4F4D}"/>
              </a:ext>
            </a:extLst>
          </p:cNvPr>
          <p:cNvSpPr>
            <a:spLocks noGrp="1"/>
          </p:cNvSpPr>
          <p:nvPr/>
        </p:nvSpPr>
        <p:spPr>
          <a:xfrm>
            <a:off x="10229850" y="2590800"/>
            <a:ext cx="42100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Forest_B Population 증가</a:t>
            </a:r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36A9C715-2974-485A-B141-AB2070B055A8}"/>
              </a:ext>
            </a:extLst>
          </p:cNvPr>
          <p:cNvSpPr>
            <a:spLocks noGrp="1"/>
          </p:cNvSpPr>
          <p:nvPr/>
        </p:nvSpPr>
        <p:spPr>
          <a:xfrm>
            <a:off x="10229850" y="3810000"/>
            <a:ext cx="4210050" cy="0"/>
          </a:xfrm>
          <a:prstGeom prst="line">
            <a:avLst/>
          </a:prstGeom>
          <a:noFill/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13DBB9A-30AC-43DD-B9A3-2B7799CA215C}"/>
              </a:ext>
            </a:extLst>
          </p:cNvPr>
          <p:cNvSpPr>
            <a:spLocks noGrp="1"/>
          </p:cNvSpPr>
          <p:nvPr/>
        </p:nvSpPr>
        <p:spPr>
          <a:xfrm>
            <a:off x="10229850" y="4114800"/>
            <a:ext cx="42100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Bounds·반경·Food 확인 후 소속 변경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576FE95-B800-4E0B-BA20-C2DC115008D4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2857500" cy="733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ID 1–8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8B7BE4A-26EA-4794-B0F9-B835A44F0682}"/>
              </a:ext>
            </a:extLst>
          </p:cNvPr>
          <p:cNvSpPr>
            <a:spLocks noGrp="1"/>
          </p:cNvSpPr>
          <p:nvPr/>
        </p:nvSpPr>
        <p:spPr>
          <a:xfrm>
            <a:off x="5476875" y="5953125"/>
            <a:ext cx="3810000" cy="733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1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A → B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F3656917-8340-4723-9241-25112B7B1E58}"/>
              </a:ext>
            </a:extLst>
          </p:cNvPr>
          <p:cNvSpPr>
            <a:spLocks noGrp="1"/>
          </p:cNvSpPr>
          <p:nvPr/>
        </p:nvSpPr>
        <p:spPr>
          <a:xfrm>
            <a:off x="10229850" y="5953125"/>
            <a:ext cx="3810000" cy="733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ID 1–8</a:t>
            </a:r>
          </a:p>
        </p:txBody>
      </p:sp>
    </p:spTree>
    <p:extLst>
      <p:ext uri="{BB962C8B-B14F-4D97-AF65-F5344CB8AC3E}">
        <p14:creationId xmlns:p14="http://schemas.microsoft.com/office/powerpoint/2010/main" val="66180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>
            <a:extLst>
              <a:ext uri="{FF2B5EF4-FFF2-40B4-BE49-F238E27FC236}">
                <a16:creationId xmlns:a16="http://schemas.microsoft.com/office/drawing/2014/main" id="{767DCF7B-0A38-4575-9EFC-FEC183E60142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통합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실행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AA54965-FC6E-4E84-ADF3-833475DEAEB3}"/>
              </a:ext>
            </a:extLst>
          </p:cNvPr>
          <p:cNvSpPr>
            <a:spLocks noGrp="1"/>
          </p:cNvSpPr>
          <p:nvPr/>
        </p:nvSpPr>
        <p:spPr>
          <a:xfrm>
            <a:off x="10477500" y="381000"/>
            <a:ext cx="4229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F8EDB3C-AD31-4660-8493-32218FBA7D05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CDDFCF7-DD65-473E-8816-FD7BABC922B7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6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테스트 루프</a:t>
            </a:r>
            <a:endParaRPr sz="36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74C8DE4-C6DC-4D37-B76E-3FC9C0206A39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347AF8A-06C9-4CD9-900D-EB6A58B5B6D7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lang="en-US"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05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00BAE129-E058-444A-BCEF-10B62BBAEB3F}"/>
              </a:ext>
            </a:extLst>
          </p:cNvPr>
          <p:cNvSpPr>
            <a:spLocks noGrp="1"/>
          </p:cNvSpPr>
          <p:nvPr/>
        </p:nvSpPr>
        <p:spPr>
          <a:xfrm>
            <a:off x="533400" y="17430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5BDCCA9-F3F7-4C48-8454-E8FCCB2D462E}"/>
              </a:ext>
            </a:extLst>
          </p:cNvPr>
          <p:cNvSpPr>
            <a:spLocks noGrp="1"/>
          </p:cNvSpPr>
          <p:nvPr/>
        </p:nvSpPr>
        <p:spPr>
          <a:xfrm>
            <a:off x="533400" y="1914525"/>
            <a:ext cx="10953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8CCF06A-C092-4F23-AEE4-73B66B3B7815}"/>
              </a:ext>
            </a:extLst>
          </p:cNvPr>
          <p:cNvSpPr>
            <a:spLocks noGrp="1"/>
          </p:cNvSpPr>
          <p:nvPr/>
        </p:nvSpPr>
        <p:spPr>
          <a:xfrm>
            <a:off x="1905000" y="1914525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환경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손실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D8518BB8-FD69-466F-9B0C-475EDD582D50}"/>
              </a:ext>
            </a:extLst>
          </p:cNvPr>
          <p:cNvSpPr>
            <a:spLocks noGrp="1"/>
          </p:cNvSpPr>
          <p:nvPr/>
        </p:nvSpPr>
        <p:spPr>
          <a:xfrm>
            <a:off x="533400" y="24288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8B708E4-4386-4E29-AB67-9E62BE0581F3}"/>
              </a:ext>
            </a:extLst>
          </p:cNvPr>
          <p:cNvSpPr>
            <a:spLocks noGrp="1"/>
          </p:cNvSpPr>
          <p:nvPr/>
        </p:nvSpPr>
        <p:spPr>
          <a:xfrm>
            <a:off x="533400" y="2600325"/>
            <a:ext cx="10953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BB2224E-7D22-4ACA-9680-9F1FF2D0CF03}"/>
              </a:ext>
            </a:extLst>
          </p:cNvPr>
          <p:cNvSpPr>
            <a:spLocks noGrp="1"/>
          </p:cNvSpPr>
          <p:nvPr/>
        </p:nvSpPr>
        <p:spPr>
          <a:xfrm>
            <a:off x="1905000" y="2600325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정규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Spawn 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주기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0E51BE2D-6906-4BA4-9BFB-6815958D61F3}"/>
              </a:ext>
            </a:extLst>
          </p:cNvPr>
          <p:cNvSpPr>
            <a:spLocks noGrp="1"/>
          </p:cNvSpPr>
          <p:nvPr/>
        </p:nvSpPr>
        <p:spPr>
          <a:xfrm>
            <a:off x="533400" y="31146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7C4775B-94D9-4156-BD82-0A4F46FE453A}"/>
              </a:ext>
            </a:extLst>
          </p:cNvPr>
          <p:cNvSpPr>
            <a:spLocks noGrp="1"/>
          </p:cNvSpPr>
          <p:nvPr/>
        </p:nvSpPr>
        <p:spPr>
          <a:xfrm>
            <a:off x="533400" y="3286125"/>
            <a:ext cx="10953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51D48E9-17BC-4435-AD8C-7447B617D32E}"/>
              </a:ext>
            </a:extLst>
          </p:cNvPr>
          <p:cNvSpPr>
            <a:spLocks noGrp="1"/>
          </p:cNvSpPr>
          <p:nvPr/>
        </p:nvSpPr>
        <p:spPr>
          <a:xfrm>
            <a:off x="1905000" y="3286125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소비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요청·배분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CFA665AF-E7FE-4218-9F74-0806D0A9A5E2}"/>
              </a:ext>
            </a:extLst>
          </p:cNvPr>
          <p:cNvSpPr>
            <a:spLocks noGrp="1"/>
          </p:cNvSpPr>
          <p:nvPr/>
        </p:nvSpPr>
        <p:spPr>
          <a:xfrm>
            <a:off x="533400" y="38004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A717196-4317-4D9F-8B22-E96925D8B8A3}"/>
              </a:ext>
            </a:extLst>
          </p:cNvPr>
          <p:cNvSpPr>
            <a:spLocks noGrp="1"/>
          </p:cNvSpPr>
          <p:nvPr/>
        </p:nvSpPr>
        <p:spPr>
          <a:xfrm>
            <a:off x="533400" y="3971925"/>
            <a:ext cx="10953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3A2D421-3188-4D3E-BA00-8284B4FDBB93}"/>
              </a:ext>
            </a:extLst>
          </p:cNvPr>
          <p:cNvSpPr>
            <a:spLocks noGrp="1"/>
          </p:cNvSpPr>
          <p:nvPr/>
        </p:nvSpPr>
        <p:spPr>
          <a:xfrm>
            <a:off x="1905000" y="3971925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자원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모니터링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F7DDD97-8407-4D49-8056-D0974527B8A3}"/>
              </a:ext>
            </a:extLst>
          </p:cNvPr>
          <p:cNvSpPr>
            <a:spLocks noGrp="1"/>
          </p:cNvSpPr>
          <p:nvPr/>
        </p:nvSpPr>
        <p:spPr>
          <a:xfrm>
            <a:off x="533400" y="44862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21C4267-810C-4F6D-B210-069C10000FAD}"/>
              </a:ext>
            </a:extLst>
          </p:cNvPr>
          <p:cNvSpPr>
            <a:spLocks noGrp="1"/>
          </p:cNvSpPr>
          <p:nvPr/>
        </p:nvSpPr>
        <p:spPr>
          <a:xfrm>
            <a:off x="533400" y="4657725"/>
            <a:ext cx="10953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6004F255-272F-402B-97E4-F39E93832884}"/>
              </a:ext>
            </a:extLst>
          </p:cNvPr>
          <p:cNvSpPr>
            <a:spLocks noGrp="1"/>
          </p:cNvSpPr>
          <p:nvPr/>
        </p:nvSpPr>
        <p:spPr>
          <a:xfrm>
            <a:off x="1905000" y="4657725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기아 상황</a:t>
            </a:r>
            <a:r>
              <a:rPr lang="en-US" altLang="ko-KR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발생 시 </a:t>
            </a:r>
            <a:r>
              <a:rPr lang="en-US" altLang="ko-KR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Migration)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5FA749EE-09DD-4C01-9A79-3C101DDB9CC1}"/>
              </a:ext>
            </a:extLst>
          </p:cNvPr>
          <p:cNvSpPr>
            <a:spLocks noGrp="1"/>
          </p:cNvSpPr>
          <p:nvPr/>
        </p:nvSpPr>
        <p:spPr>
          <a:xfrm>
            <a:off x="533400" y="51720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D2B6514-9EDB-4765-A50E-D13DF7D38AB2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10953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A6194A57-7926-4BCD-9F87-B243A196B475}"/>
              </a:ext>
            </a:extLst>
          </p:cNvPr>
          <p:cNvSpPr>
            <a:spLocks noGrp="1"/>
          </p:cNvSpPr>
          <p:nvPr/>
        </p:nvSpPr>
        <p:spPr>
          <a:xfrm>
            <a:off x="1905000" y="5343525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개체 수 처리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E501C3A1-FDBB-4700-9E99-72D56CCF699D}"/>
              </a:ext>
            </a:extLst>
          </p:cNvPr>
          <p:cNvSpPr>
            <a:spLocks noGrp="1"/>
          </p:cNvSpPr>
          <p:nvPr/>
        </p:nvSpPr>
        <p:spPr>
          <a:xfrm>
            <a:off x="533400" y="5857875"/>
            <a:ext cx="14173200" cy="0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68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134626CA-13FA-4921-8F54-0867E4EE906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lang="en-US"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7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—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다음</a:t>
            </a:r>
            <a:r>
              <a:rPr sz="1200" b="0" dirty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작업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36A6032-D830-459E-B37D-190CD2F3E1DF}"/>
              </a:ext>
            </a:extLst>
          </p:cNvPr>
          <p:cNvSpPr>
            <a:spLocks noGrp="1"/>
          </p:cNvSpPr>
          <p:nvPr/>
        </p:nvSpPr>
        <p:spPr>
          <a:xfrm>
            <a:off x="10477500" y="381000"/>
            <a:ext cx="4229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MASSENTITY · M3 ECOLOGY IMPLEMENTATION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0A59E57-FA76-4E05-913A-CB401DED3808}"/>
              </a:ext>
            </a:extLst>
          </p:cNvPr>
          <p:cNvSpPr>
            <a:spLocks noGrp="1"/>
          </p:cNvSpPr>
          <p:nvPr/>
        </p:nvSpPr>
        <p:spPr>
          <a:xfrm>
            <a:off x="533400" y="647700"/>
            <a:ext cx="141732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DA12479-D03A-4E85-BE2F-5454964FB6D8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6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다음 설계 및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F296DC-FD4D-4D5B-8DD4-5FEA1AB4284F}"/>
              </a:ext>
            </a:extLst>
          </p:cNvPr>
          <p:cNvSpPr>
            <a:spLocks noGrp="1"/>
          </p:cNvSpPr>
          <p:nvPr/>
        </p:nvSpPr>
        <p:spPr>
          <a:xfrm>
            <a:off x="533400" y="7258050"/>
            <a:ext cx="14173200" cy="628650"/>
          </a:xfrm>
          <a:prstGeom prst="rect">
            <a:avLst/>
          </a:prstGeom>
          <a:solidFill>
            <a:srgbClr val="080808"/>
          </a:solidFill>
          <a:ln w="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F6062DB-CFE7-4367-87E1-76BCB285D83F}"/>
              </a:ext>
            </a:extLst>
          </p:cNvPr>
          <p:cNvSpPr>
            <a:spLocks noGrp="1"/>
          </p:cNvSpPr>
          <p:nvPr/>
        </p:nvSpPr>
        <p:spPr>
          <a:xfrm>
            <a:off x="723900" y="7381875"/>
            <a:ext cx="1371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목표 </a:t>
            </a:r>
            <a:r>
              <a:rPr lang="en-US" altLang="ko-KR" sz="20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도착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정보를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출생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특성과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생존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결과에</a:t>
            </a:r>
            <a:r>
              <a:rPr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연결</a:t>
            </a:r>
            <a:r>
              <a:rPr lang="en-US"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및 작업 통합</a:t>
            </a:r>
            <a:endParaRPr sz="20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C64D770-60CF-4C10-BE3A-22C5F5B42AF3}"/>
              </a:ext>
            </a:extLst>
          </p:cNvPr>
          <p:cNvSpPr>
            <a:spLocks noGrp="1"/>
          </p:cNvSpPr>
          <p:nvPr/>
        </p:nvSpPr>
        <p:spPr>
          <a:xfrm>
            <a:off x="533400" y="80581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A2A2A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A2A2A9"/>
                </a:solidFill>
                <a:latin typeface="Malgun Gothic"/>
                <a:ea typeface="Malgun Gothic"/>
                <a:cs typeface="Malgun Gothic"/>
              </a:rPr>
              <a:t>AdaptiveEcosystem</a:t>
            </a:r>
            <a:endParaRPr sz="1200" b="0" dirty="0">
              <a:solidFill>
                <a:srgbClr val="A2A2A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4407FC1-A209-4AD6-BAC7-F44B25B0D011}"/>
              </a:ext>
            </a:extLst>
          </p:cNvPr>
          <p:cNvSpPr>
            <a:spLocks noGrp="1"/>
          </p:cNvSpPr>
          <p:nvPr/>
        </p:nvSpPr>
        <p:spPr>
          <a:xfrm>
            <a:off x="13430250" y="8058150"/>
            <a:ext cx="12763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797979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5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r>
              <a:rPr sz="1050" b="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lang="en-US" sz="1050" dirty="0">
                <a:solidFill>
                  <a:srgbClr val="797979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sz="1050" b="0" dirty="0">
              <a:solidFill>
                <a:srgbClr val="79797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624E82-82A1-49D4-A256-94F2E3D5D64F}"/>
              </a:ext>
            </a:extLst>
          </p:cNvPr>
          <p:cNvSpPr>
            <a:spLocks noGrp="1"/>
          </p:cNvSpPr>
          <p:nvPr/>
        </p:nvSpPr>
        <p:spPr>
          <a:xfrm>
            <a:off x="533400" y="2214563"/>
            <a:ext cx="7666383" cy="2864334"/>
          </a:xfrm>
          <a:prstGeom prst="rect">
            <a:avLst/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79529D0-3D89-42C3-A4C4-FA52034978D3}"/>
              </a:ext>
            </a:extLst>
          </p:cNvPr>
          <p:cNvSpPr>
            <a:spLocks noGrp="1"/>
          </p:cNvSpPr>
          <p:nvPr/>
        </p:nvSpPr>
        <p:spPr>
          <a:xfrm>
            <a:off x="800100" y="2500312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출발지·도착지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이주</a:t>
            </a:r>
            <a:r>
              <a:rPr sz="2100" b="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정보를 다음 </a:t>
            </a:r>
            <a:r>
              <a:rPr lang="en-US" altLang="ko-KR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Spawn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 반영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32F368BE-803F-4C6B-8AE6-807DF67E1F73}"/>
              </a:ext>
            </a:extLst>
          </p:cNvPr>
          <p:cNvSpPr>
            <a:spLocks noGrp="1"/>
          </p:cNvSpPr>
          <p:nvPr/>
        </p:nvSpPr>
        <p:spPr>
          <a:xfrm flipV="1">
            <a:off x="800100" y="3138486"/>
            <a:ext cx="6819900" cy="1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BE84416-88FA-4196-8D40-AC8CE4E411B9}"/>
              </a:ext>
            </a:extLst>
          </p:cNvPr>
          <p:cNvSpPr>
            <a:spLocks noGrp="1"/>
          </p:cNvSpPr>
          <p:nvPr/>
        </p:nvSpPr>
        <p:spPr>
          <a:xfrm>
            <a:off x="800100" y="3424237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날짜</a:t>
            </a:r>
            <a:r>
              <a:rPr lang="en-US" altLang="ko-KR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(Day/Night) 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시스템을 날씨 시스템과 연결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74D515AA-8781-BFB0-974A-E6A46F2F2CDC}"/>
              </a:ext>
            </a:extLst>
          </p:cNvPr>
          <p:cNvSpPr>
            <a:spLocks noGrp="1"/>
          </p:cNvSpPr>
          <p:nvPr/>
        </p:nvSpPr>
        <p:spPr>
          <a:xfrm>
            <a:off x="800100" y="4121943"/>
            <a:ext cx="6819900" cy="0"/>
          </a:xfrm>
          <a:prstGeom prst="line">
            <a:avLst/>
          </a:prstGeom>
          <a:noFill/>
          <a:ln w="9525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E3620494-F097-ADA2-4AEA-40451B202E7E}"/>
              </a:ext>
            </a:extLst>
          </p:cNvPr>
          <p:cNvSpPr>
            <a:spLocks noGrp="1"/>
          </p:cNvSpPr>
          <p:nvPr/>
        </p:nvSpPr>
        <p:spPr>
          <a:xfrm>
            <a:off x="800100" y="4433889"/>
            <a:ext cx="7121387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07070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10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MassFlock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과 </a:t>
            </a:r>
            <a:r>
              <a:rPr lang="en-US" altLang="ko-KR" sz="2100" dirty="0" err="1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MassMovement</a:t>
            </a:r>
            <a:r>
              <a:rPr lang="ko-KR" altLang="en-US" sz="2100" dirty="0">
                <a:solidFill>
                  <a:srgbClr val="070707"/>
                </a:solidFill>
                <a:latin typeface="Malgun Gothic"/>
                <a:ea typeface="Malgun Gothic"/>
                <a:cs typeface="Malgun Gothic"/>
              </a:rPr>
              <a:t>를 활용한 개체 움직임 연결</a:t>
            </a:r>
            <a:endParaRPr sz="2100" b="0" dirty="0">
              <a:solidFill>
                <a:srgbClr val="070707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50231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509</Words>
  <Application>Microsoft Office PowerPoint</Application>
  <DocSecurity>0</DocSecurity>
  <PresentationFormat>사용자 지정</PresentationFormat>
  <Paragraphs>136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Malgun Gothic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장원준</cp:lastModifiedBy>
  <cp:revision>170</cp:revision>
  <dcterms:created xsi:type="dcterms:W3CDTF">2026-09-30T06:05:04Z</dcterms:created>
  <dcterms:modified xsi:type="dcterms:W3CDTF">2026-10-02T03:18:37Z</dcterms:modified>
</cp:coreProperties>
</file>